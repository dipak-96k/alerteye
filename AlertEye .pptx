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0" r:id="rId1"/>
  </p:sldMasterIdLst>
  <p:notesMasterIdLst>
    <p:notesMasterId r:id="rId41"/>
  </p:notesMasterIdLst>
  <p:sldIdLst>
    <p:sldId id="256" r:id="rId2"/>
    <p:sldId id="267" r:id="rId3"/>
    <p:sldId id="281" r:id="rId4"/>
    <p:sldId id="282" r:id="rId5"/>
    <p:sldId id="257" r:id="rId6"/>
    <p:sldId id="259" r:id="rId7"/>
    <p:sldId id="266" r:id="rId8"/>
    <p:sldId id="316" r:id="rId9"/>
    <p:sldId id="262" r:id="rId10"/>
    <p:sldId id="260" r:id="rId11"/>
    <p:sldId id="283" r:id="rId12"/>
    <p:sldId id="284" r:id="rId13"/>
    <p:sldId id="285" r:id="rId14"/>
    <p:sldId id="279" r:id="rId15"/>
    <p:sldId id="286" r:id="rId16"/>
    <p:sldId id="287" r:id="rId17"/>
    <p:sldId id="317" r:id="rId18"/>
    <p:sldId id="291" r:id="rId19"/>
    <p:sldId id="293" r:id="rId20"/>
    <p:sldId id="296" r:id="rId21"/>
    <p:sldId id="297" r:id="rId22"/>
    <p:sldId id="298" r:id="rId23"/>
    <p:sldId id="299" r:id="rId24"/>
    <p:sldId id="300" r:id="rId25"/>
    <p:sldId id="303" r:id="rId26"/>
    <p:sldId id="319" r:id="rId27"/>
    <p:sldId id="304" r:id="rId28"/>
    <p:sldId id="305" r:id="rId29"/>
    <p:sldId id="318" r:id="rId30"/>
    <p:sldId id="309" r:id="rId31"/>
    <p:sldId id="312" r:id="rId32"/>
    <p:sldId id="320" r:id="rId33"/>
    <p:sldId id="321" r:id="rId34"/>
    <p:sldId id="322" r:id="rId35"/>
    <p:sldId id="323" r:id="rId36"/>
    <p:sldId id="324" r:id="rId37"/>
    <p:sldId id="272" r:id="rId38"/>
    <p:sldId id="313" r:id="rId39"/>
    <p:sldId id="31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8DCB59-1E7E-4687-8440-9783F75172F7}">
          <p14:sldIdLst>
            <p14:sldId id="256"/>
            <p14:sldId id="267"/>
            <p14:sldId id="281"/>
            <p14:sldId id="282"/>
            <p14:sldId id="257"/>
            <p14:sldId id="259"/>
            <p14:sldId id="266"/>
            <p14:sldId id="316"/>
            <p14:sldId id="262"/>
            <p14:sldId id="260"/>
            <p14:sldId id="283"/>
            <p14:sldId id="284"/>
            <p14:sldId id="285"/>
            <p14:sldId id="279"/>
            <p14:sldId id="286"/>
            <p14:sldId id="287"/>
            <p14:sldId id="317"/>
            <p14:sldId id="291"/>
            <p14:sldId id="293"/>
            <p14:sldId id="296"/>
            <p14:sldId id="297"/>
            <p14:sldId id="298"/>
            <p14:sldId id="299"/>
            <p14:sldId id="300"/>
            <p14:sldId id="303"/>
            <p14:sldId id="319"/>
            <p14:sldId id="304"/>
            <p14:sldId id="305"/>
            <p14:sldId id="318"/>
            <p14:sldId id="309"/>
            <p14:sldId id="312"/>
            <p14:sldId id="320"/>
            <p14:sldId id="321"/>
            <p14:sldId id="322"/>
            <p14:sldId id="323"/>
            <p14:sldId id="324"/>
            <p14:sldId id="272"/>
            <p14:sldId id="313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7D4"/>
    <a:srgbClr val="EBE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8627" autoAdjust="0"/>
  </p:normalViewPr>
  <p:slideViewPr>
    <p:cSldViewPr snapToGrid="0" snapToObjects="1">
      <p:cViewPr varScale="1">
        <p:scale>
          <a:sx n="73" d="100"/>
          <a:sy n="73" d="100"/>
        </p:scale>
        <p:origin x="106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091141-4AFD-4760-86FA-C93F68081A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15B416F-B591-4EAD-8405-4BDF89DE74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Task Distribution (Work Breakdown Structure):</a:t>
          </a:r>
          <a:endParaRPr lang="en-US"/>
        </a:p>
      </dgm:t>
    </dgm:pt>
    <dgm:pt modelId="{7174570A-8A40-437C-BD08-ADEFF8593E65}" type="parTrans" cxnId="{3F40DE0A-00BD-40DB-AC0C-EBA3D3BACBF5}">
      <dgm:prSet/>
      <dgm:spPr/>
      <dgm:t>
        <a:bodyPr/>
        <a:lstStyle/>
        <a:p>
          <a:endParaRPr lang="en-US"/>
        </a:p>
      </dgm:t>
    </dgm:pt>
    <dgm:pt modelId="{5F131355-97A9-4333-BF56-FCB6C9FB328D}" type="sibTrans" cxnId="{3F40DE0A-00BD-40DB-AC0C-EBA3D3BACBF5}">
      <dgm:prSet/>
      <dgm:spPr/>
      <dgm:t>
        <a:bodyPr/>
        <a:lstStyle/>
        <a:p>
          <a:endParaRPr lang="en-US"/>
        </a:p>
      </dgm:t>
    </dgm:pt>
    <dgm:pt modelId="{37023409-DDEA-445B-877E-A980F277427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Hardware :</a:t>
          </a:r>
          <a:r>
            <a:rPr lang="en-US" sz="1600" dirty="0"/>
            <a:t> Raspberry Pi , mic/speaker , camera ,</a:t>
          </a:r>
          <a:r>
            <a:rPr lang="en-IN" sz="1600" dirty="0"/>
            <a:t> GPS Module</a:t>
          </a:r>
          <a:endParaRPr lang="en-US" sz="1600" dirty="0"/>
        </a:p>
      </dgm:t>
    </dgm:pt>
    <dgm:pt modelId="{9530178F-7297-4E6A-9F59-603206A5BE08}" type="parTrans" cxnId="{06697388-9565-4938-A1AA-694AC9C70DFE}">
      <dgm:prSet/>
      <dgm:spPr/>
      <dgm:t>
        <a:bodyPr/>
        <a:lstStyle/>
        <a:p>
          <a:endParaRPr lang="en-US"/>
        </a:p>
      </dgm:t>
    </dgm:pt>
    <dgm:pt modelId="{7625E193-3D32-4344-839E-C896A52115B9}" type="sibTrans" cxnId="{06697388-9565-4938-A1AA-694AC9C70DFE}">
      <dgm:prSet/>
      <dgm:spPr/>
      <dgm:t>
        <a:bodyPr/>
        <a:lstStyle/>
        <a:p>
          <a:endParaRPr lang="en-US"/>
        </a:p>
      </dgm:t>
    </dgm:pt>
    <dgm:pt modelId="{894DCE72-EB22-4FD3-8BF6-2DDEE952682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Backend:</a:t>
          </a:r>
          <a:r>
            <a:rPr lang="en-US" sz="1600" dirty="0"/>
            <a:t> pyttsx3, YOLOv11 model,</a:t>
          </a:r>
        </a:p>
        <a:p>
          <a:pPr>
            <a:lnSpc>
              <a:spcPct val="100000"/>
            </a:lnSpc>
          </a:pPr>
          <a:r>
            <a:rPr lang="en-US" sz="1600" dirty="0"/>
            <a:t> memory</a:t>
          </a:r>
        </a:p>
      </dgm:t>
    </dgm:pt>
    <dgm:pt modelId="{E87108D3-FF3A-471D-8226-CDE8E9E05C1C}" type="parTrans" cxnId="{32587B3D-C941-4385-A630-26D9B508F26A}">
      <dgm:prSet/>
      <dgm:spPr/>
      <dgm:t>
        <a:bodyPr/>
        <a:lstStyle/>
        <a:p>
          <a:endParaRPr lang="en-US"/>
        </a:p>
      </dgm:t>
    </dgm:pt>
    <dgm:pt modelId="{98222165-77BE-4656-BDAA-D0B614980183}" type="sibTrans" cxnId="{32587B3D-C941-4385-A630-26D9B508F26A}">
      <dgm:prSet/>
      <dgm:spPr/>
      <dgm:t>
        <a:bodyPr/>
        <a:lstStyle/>
        <a:p>
          <a:endParaRPr lang="en-US"/>
        </a:p>
      </dgm:t>
    </dgm:pt>
    <dgm:pt modelId="{3711B429-D523-43A4-9695-2939A6AFEE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Object detection and adaptive voice alert:</a:t>
          </a:r>
          <a:r>
            <a:rPr lang="en-US" sz="1600" dirty="0"/>
            <a:t> detection, voice alerts</a:t>
          </a:r>
        </a:p>
      </dgm:t>
    </dgm:pt>
    <dgm:pt modelId="{40091643-BCC9-433A-9631-92D5169AB0DC}" type="parTrans" cxnId="{1940DDE8-3184-4890-A5F9-D5C994CE04FB}">
      <dgm:prSet/>
      <dgm:spPr/>
      <dgm:t>
        <a:bodyPr/>
        <a:lstStyle/>
        <a:p>
          <a:endParaRPr lang="en-US"/>
        </a:p>
      </dgm:t>
    </dgm:pt>
    <dgm:pt modelId="{E706D55E-00AE-4749-9D6F-135E55F5CBF8}" type="sibTrans" cxnId="{1940DDE8-3184-4890-A5F9-D5C994CE04FB}">
      <dgm:prSet/>
      <dgm:spPr/>
      <dgm:t>
        <a:bodyPr/>
        <a:lstStyle/>
        <a:p>
          <a:endParaRPr lang="en-US"/>
        </a:p>
      </dgm:t>
    </dgm:pt>
    <dgm:pt modelId="{61FD553E-874F-45F3-BB71-8DAB7DB51C9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Deployment:</a:t>
          </a:r>
          <a:r>
            <a:rPr lang="en-US" sz="1600" dirty="0"/>
            <a:t> hosting, security, testing</a:t>
          </a:r>
        </a:p>
      </dgm:t>
    </dgm:pt>
    <dgm:pt modelId="{D20EBB36-F6B9-4397-A8A5-554D91A28139}" type="parTrans" cxnId="{3302297F-73BD-4060-8FE1-E0432A00EB87}">
      <dgm:prSet/>
      <dgm:spPr/>
      <dgm:t>
        <a:bodyPr/>
        <a:lstStyle/>
        <a:p>
          <a:endParaRPr lang="en-US"/>
        </a:p>
      </dgm:t>
    </dgm:pt>
    <dgm:pt modelId="{32E5CFB1-2D6A-4DCA-9E36-A31215CEFB2A}" type="sibTrans" cxnId="{3302297F-73BD-4060-8FE1-E0432A00EB87}">
      <dgm:prSet/>
      <dgm:spPr/>
      <dgm:t>
        <a:bodyPr/>
        <a:lstStyle/>
        <a:p>
          <a:endParaRPr lang="en-US"/>
        </a:p>
      </dgm:t>
    </dgm:pt>
    <dgm:pt modelId="{861FE19E-4467-4982-A8A6-E0442B2C1B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Cost Estimation (Formula: Total Cost = Hosting + APIs + Storage/Misc+Hardware):</a:t>
          </a:r>
          <a:endParaRPr lang="en-US" dirty="0"/>
        </a:p>
      </dgm:t>
    </dgm:pt>
    <dgm:pt modelId="{B2CBD7F5-22F5-414A-9564-65D161925845}" type="parTrans" cxnId="{A0C07101-8D71-477E-B986-3511EBA89645}">
      <dgm:prSet/>
      <dgm:spPr/>
      <dgm:t>
        <a:bodyPr/>
        <a:lstStyle/>
        <a:p>
          <a:endParaRPr lang="en-US"/>
        </a:p>
      </dgm:t>
    </dgm:pt>
    <dgm:pt modelId="{EFEFF176-A7FD-4E86-BC58-4C9CFE5FC138}" type="sibTrans" cxnId="{A0C07101-8D71-477E-B986-3511EBA89645}">
      <dgm:prSet/>
      <dgm:spPr/>
      <dgm:t>
        <a:bodyPr/>
        <a:lstStyle/>
        <a:p>
          <a:endParaRPr lang="en-US"/>
        </a:p>
      </dgm:t>
    </dgm:pt>
    <dgm:pt modelId="{9EF3C5C3-1736-4654-A8EE-FF133F5449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Raspberry Pi: </a:t>
          </a:r>
          <a:r>
            <a:rPr lang="en-US" sz="1600" b="1" dirty="0"/>
            <a:t>₹6500</a:t>
          </a:r>
          <a:endParaRPr lang="en-US" sz="1600" dirty="0"/>
        </a:p>
      </dgm:t>
    </dgm:pt>
    <dgm:pt modelId="{852D930F-A2A7-4977-9C54-239B2BA22B6F}" type="parTrans" cxnId="{1F08F7AF-FEC0-4A05-828A-969DE2E3C54F}">
      <dgm:prSet/>
      <dgm:spPr/>
      <dgm:t>
        <a:bodyPr/>
        <a:lstStyle/>
        <a:p>
          <a:endParaRPr lang="en-US"/>
        </a:p>
      </dgm:t>
    </dgm:pt>
    <dgm:pt modelId="{2C6985D5-FAE6-4816-BE8A-5ADE6B235D1E}" type="sibTrans" cxnId="{1F08F7AF-FEC0-4A05-828A-969DE2E3C54F}">
      <dgm:prSet/>
      <dgm:spPr/>
      <dgm:t>
        <a:bodyPr/>
        <a:lstStyle/>
        <a:p>
          <a:endParaRPr lang="en-US"/>
        </a:p>
      </dgm:t>
    </dgm:pt>
    <dgm:pt modelId="{79AF7A30-CD1E-4C51-A8BF-365ADEB4D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Ultrasonic Sensors: </a:t>
          </a:r>
          <a:r>
            <a:rPr lang="en-US" sz="1600" b="1" dirty="0"/>
            <a:t>₹300</a:t>
          </a:r>
        </a:p>
        <a:p>
          <a:pPr>
            <a:lnSpc>
              <a:spcPct val="100000"/>
            </a:lnSpc>
          </a:pPr>
          <a:r>
            <a:rPr lang="en-IN" sz="1600" dirty="0"/>
            <a:t>GPS Module: ₹800</a:t>
          </a:r>
          <a:endParaRPr lang="en-US" sz="1600" dirty="0"/>
        </a:p>
      </dgm:t>
    </dgm:pt>
    <dgm:pt modelId="{F0DE2136-0B64-4BC3-8219-B6BBA299B773}" type="parTrans" cxnId="{72FBDA56-6B5C-4371-A7B1-A9563C806C3E}">
      <dgm:prSet/>
      <dgm:spPr/>
      <dgm:t>
        <a:bodyPr/>
        <a:lstStyle/>
        <a:p>
          <a:endParaRPr lang="en-US"/>
        </a:p>
      </dgm:t>
    </dgm:pt>
    <dgm:pt modelId="{5DF32F74-6656-47AF-A863-5467257DCB31}" type="sibTrans" cxnId="{72FBDA56-6B5C-4371-A7B1-A9563C806C3E}">
      <dgm:prSet/>
      <dgm:spPr/>
      <dgm:t>
        <a:bodyPr/>
        <a:lstStyle/>
        <a:p>
          <a:endParaRPr lang="en-US"/>
        </a:p>
      </dgm:t>
    </dgm:pt>
    <dgm:pt modelId="{45BB7E22-F70A-42A2-8D44-25BE9E63D9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Storage/Misc: </a:t>
          </a:r>
          <a:r>
            <a:rPr lang="en-US" sz="1600" b="1" dirty="0"/>
            <a:t>₹500</a:t>
          </a:r>
          <a:r>
            <a:rPr lang="en-US" sz="1600" dirty="0"/>
            <a:t> (one-time/monthly approx.)</a:t>
          </a:r>
        </a:p>
        <a:p>
          <a:pPr>
            <a:lnSpc>
              <a:spcPct val="100000"/>
            </a:lnSpc>
          </a:pPr>
          <a:r>
            <a:rPr lang="en-US" sz="1600" dirty="0"/>
            <a:t>Camera: </a:t>
          </a:r>
          <a:r>
            <a:rPr lang="en-US" sz="1600" b="1" dirty="0"/>
            <a:t>₹500</a:t>
          </a:r>
          <a:endParaRPr lang="en-US" sz="1600" dirty="0"/>
        </a:p>
      </dgm:t>
    </dgm:pt>
    <dgm:pt modelId="{6E838248-DEBB-49B6-9880-2A6E958859FB}" type="parTrans" cxnId="{17601987-1B36-4E29-A464-97A5D4B789A5}">
      <dgm:prSet/>
      <dgm:spPr/>
      <dgm:t>
        <a:bodyPr/>
        <a:lstStyle/>
        <a:p>
          <a:endParaRPr lang="en-US"/>
        </a:p>
      </dgm:t>
    </dgm:pt>
    <dgm:pt modelId="{5CA9A317-51BC-4E14-B1AB-52954AF1F1E5}" type="sibTrans" cxnId="{17601987-1B36-4E29-A464-97A5D4B789A5}">
      <dgm:prSet/>
      <dgm:spPr/>
      <dgm:t>
        <a:bodyPr/>
        <a:lstStyle/>
        <a:p>
          <a:endParaRPr lang="en-US"/>
        </a:p>
      </dgm:t>
    </dgm:pt>
    <dgm:pt modelId="{300F56DA-3DE5-47E4-A0E4-7E848BD4957C}" type="pres">
      <dgm:prSet presAssocID="{A8091141-4AFD-4760-86FA-C93F68081AB2}" presName="root" presStyleCnt="0">
        <dgm:presLayoutVars>
          <dgm:dir/>
          <dgm:resizeHandles val="exact"/>
        </dgm:presLayoutVars>
      </dgm:prSet>
      <dgm:spPr/>
    </dgm:pt>
    <dgm:pt modelId="{AD5C437C-390F-4C6A-A2EC-281A3F7CE356}" type="pres">
      <dgm:prSet presAssocID="{515B416F-B591-4EAD-8405-4BDF89DE74D1}" presName="compNode" presStyleCnt="0"/>
      <dgm:spPr/>
    </dgm:pt>
    <dgm:pt modelId="{8C78E079-52EA-4982-BF9B-89211FD8F7D3}" type="pres">
      <dgm:prSet presAssocID="{515B416F-B591-4EAD-8405-4BDF89DE74D1}" presName="bgRect" presStyleLbl="bgShp" presStyleIdx="0" presStyleCnt="2" custScaleY="137148"/>
      <dgm:spPr/>
    </dgm:pt>
    <dgm:pt modelId="{4BDF677D-854F-40A0-B9D4-872B00354EC0}" type="pres">
      <dgm:prSet presAssocID="{515B416F-B591-4EAD-8405-4BDF89DE74D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21B852C-6A23-458D-A6EA-48E8614D28E1}" type="pres">
      <dgm:prSet presAssocID="{515B416F-B591-4EAD-8405-4BDF89DE74D1}" presName="spaceRect" presStyleCnt="0"/>
      <dgm:spPr/>
    </dgm:pt>
    <dgm:pt modelId="{63F0C9E7-97F5-4FAC-9F92-4F2F2520C471}" type="pres">
      <dgm:prSet presAssocID="{515B416F-B591-4EAD-8405-4BDF89DE74D1}" presName="parTx" presStyleLbl="revTx" presStyleIdx="0" presStyleCnt="4">
        <dgm:presLayoutVars>
          <dgm:chMax val="0"/>
          <dgm:chPref val="0"/>
        </dgm:presLayoutVars>
      </dgm:prSet>
      <dgm:spPr/>
    </dgm:pt>
    <dgm:pt modelId="{B055885B-B0CE-4CA8-8DB5-F2FEFCEEA7F1}" type="pres">
      <dgm:prSet presAssocID="{515B416F-B591-4EAD-8405-4BDF89DE74D1}" presName="desTx" presStyleLbl="revTx" presStyleIdx="1" presStyleCnt="4" custScaleX="114646" custLinFactNeighborX="-5554" custLinFactNeighborY="-583">
        <dgm:presLayoutVars/>
      </dgm:prSet>
      <dgm:spPr/>
    </dgm:pt>
    <dgm:pt modelId="{53AE49A0-3DAD-4DFD-97CD-64110D1055D3}" type="pres">
      <dgm:prSet presAssocID="{5F131355-97A9-4333-BF56-FCB6C9FB328D}" presName="sibTrans" presStyleCnt="0"/>
      <dgm:spPr/>
    </dgm:pt>
    <dgm:pt modelId="{D906B401-5B1C-481F-A200-58B17778EB04}" type="pres">
      <dgm:prSet presAssocID="{861FE19E-4467-4982-A8A6-E0442B2C1BC9}" presName="compNode" presStyleCnt="0"/>
      <dgm:spPr/>
    </dgm:pt>
    <dgm:pt modelId="{E8225F7A-9047-446F-A95D-41026BF703DB}" type="pres">
      <dgm:prSet presAssocID="{861FE19E-4467-4982-A8A6-E0442B2C1BC9}" presName="bgRect" presStyleLbl="bgShp" presStyleIdx="1" presStyleCnt="2" custScaleY="119242" custLinFactNeighborY="583"/>
      <dgm:spPr/>
    </dgm:pt>
    <dgm:pt modelId="{789000EB-8B8E-450B-9FA8-F5F1D4A48CB8}" type="pres">
      <dgm:prSet presAssocID="{861FE19E-4467-4982-A8A6-E0442B2C1BC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B976A0F-B1AB-4D03-9483-1A70F83A7B0E}" type="pres">
      <dgm:prSet presAssocID="{861FE19E-4467-4982-A8A6-E0442B2C1BC9}" presName="spaceRect" presStyleCnt="0"/>
      <dgm:spPr/>
    </dgm:pt>
    <dgm:pt modelId="{86A49150-25C1-45AE-95DD-43DDF0E2B36B}" type="pres">
      <dgm:prSet presAssocID="{861FE19E-4467-4982-A8A6-E0442B2C1BC9}" presName="parTx" presStyleLbl="revTx" presStyleIdx="2" presStyleCnt="4">
        <dgm:presLayoutVars>
          <dgm:chMax val="0"/>
          <dgm:chPref val="0"/>
        </dgm:presLayoutVars>
      </dgm:prSet>
      <dgm:spPr/>
    </dgm:pt>
    <dgm:pt modelId="{14D7C4BD-94B2-4812-B15E-8182BA86B6F4}" type="pres">
      <dgm:prSet presAssocID="{861FE19E-4467-4982-A8A6-E0442B2C1BC9}" presName="desTx" presStyleLbl="revTx" presStyleIdx="3" presStyleCnt="4" custScaleX="109660">
        <dgm:presLayoutVars/>
      </dgm:prSet>
      <dgm:spPr/>
    </dgm:pt>
  </dgm:ptLst>
  <dgm:cxnLst>
    <dgm:cxn modelId="{A0C07101-8D71-477E-B986-3511EBA89645}" srcId="{A8091141-4AFD-4760-86FA-C93F68081AB2}" destId="{861FE19E-4467-4982-A8A6-E0442B2C1BC9}" srcOrd="1" destOrd="0" parTransId="{B2CBD7F5-22F5-414A-9564-65D161925845}" sibTransId="{EFEFF176-A7FD-4E86-BC58-4C9CFE5FC138}"/>
    <dgm:cxn modelId="{D4290304-FB9D-41A8-9037-2EDAC56DE679}" type="presOf" srcId="{45BB7E22-F70A-42A2-8D44-25BE9E63D97F}" destId="{14D7C4BD-94B2-4812-B15E-8182BA86B6F4}" srcOrd="0" destOrd="2" presId="urn:microsoft.com/office/officeart/2018/2/layout/IconVerticalSolidList"/>
    <dgm:cxn modelId="{A4486205-2BCB-4F13-B015-920E30A01229}" type="presOf" srcId="{9EF3C5C3-1736-4654-A8EE-FF133F5449D8}" destId="{14D7C4BD-94B2-4812-B15E-8182BA86B6F4}" srcOrd="0" destOrd="0" presId="urn:microsoft.com/office/officeart/2018/2/layout/IconVerticalSolidList"/>
    <dgm:cxn modelId="{3F40DE0A-00BD-40DB-AC0C-EBA3D3BACBF5}" srcId="{A8091141-4AFD-4760-86FA-C93F68081AB2}" destId="{515B416F-B591-4EAD-8405-4BDF89DE74D1}" srcOrd="0" destOrd="0" parTransId="{7174570A-8A40-437C-BD08-ADEFF8593E65}" sibTransId="{5F131355-97A9-4333-BF56-FCB6C9FB328D}"/>
    <dgm:cxn modelId="{32587B3D-C941-4385-A630-26D9B508F26A}" srcId="{515B416F-B591-4EAD-8405-4BDF89DE74D1}" destId="{894DCE72-EB22-4FD3-8BF6-2DDEE9526823}" srcOrd="1" destOrd="0" parTransId="{E87108D3-FF3A-471D-8226-CDE8E9E05C1C}" sibTransId="{98222165-77BE-4656-BDAA-D0B614980183}"/>
    <dgm:cxn modelId="{468BB83F-5197-4F51-8D4F-E96E1E92429E}" type="presOf" srcId="{61FD553E-874F-45F3-BB71-8DAB7DB51C9A}" destId="{B055885B-B0CE-4CA8-8DB5-F2FEFCEEA7F1}" srcOrd="0" destOrd="3" presId="urn:microsoft.com/office/officeart/2018/2/layout/IconVerticalSolidList"/>
    <dgm:cxn modelId="{72FBDA56-6B5C-4371-A7B1-A9563C806C3E}" srcId="{861FE19E-4467-4982-A8A6-E0442B2C1BC9}" destId="{79AF7A30-CD1E-4C51-A8BF-365ADEB4DD33}" srcOrd="1" destOrd="0" parTransId="{F0DE2136-0B64-4BC3-8219-B6BBA299B773}" sibTransId="{5DF32F74-6656-47AF-A863-5467257DCB31}"/>
    <dgm:cxn modelId="{3302297F-73BD-4060-8FE1-E0432A00EB87}" srcId="{515B416F-B591-4EAD-8405-4BDF89DE74D1}" destId="{61FD553E-874F-45F3-BB71-8DAB7DB51C9A}" srcOrd="3" destOrd="0" parTransId="{D20EBB36-F6B9-4397-A8A5-554D91A28139}" sibTransId="{32E5CFB1-2D6A-4DCA-9E36-A31215CEFB2A}"/>
    <dgm:cxn modelId="{2D0B0680-4EC1-4EEA-89F6-1E67465A8E9C}" type="presOf" srcId="{515B416F-B591-4EAD-8405-4BDF89DE74D1}" destId="{63F0C9E7-97F5-4FAC-9F92-4F2F2520C471}" srcOrd="0" destOrd="0" presId="urn:microsoft.com/office/officeart/2018/2/layout/IconVerticalSolidList"/>
    <dgm:cxn modelId="{17601987-1B36-4E29-A464-97A5D4B789A5}" srcId="{861FE19E-4467-4982-A8A6-E0442B2C1BC9}" destId="{45BB7E22-F70A-42A2-8D44-25BE9E63D97F}" srcOrd="2" destOrd="0" parTransId="{6E838248-DEBB-49B6-9880-2A6E958859FB}" sibTransId="{5CA9A317-51BC-4E14-B1AB-52954AF1F1E5}"/>
    <dgm:cxn modelId="{06697388-9565-4938-A1AA-694AC9C70DFE}" srcId="{515B416F-B591-4EAD-8405-4BDF89DE74D1}" destId="{37023409-DDEA-445B-877E-A980F277427B}" srcOrd="0" destOrd="0" parTransId="{9530178F-7297-4E6A-9F59-603206A5BE08}" sibTransId="{7625E193-3D32-4344-839E-C896A52115B9}"/>
    <dgm:cxn modelId="{9F677491-6C85-4E4E-91BC-F007667CB00A}" type="presOf" srcId="{3711B429-D523-43A4-9695-2939A6AFEE47}" destId="{B055885B-B0CE-4CA8-8DB5-F2FEFCEEA7F1}" srcOrd="0" destOrd="2" presId="urn:microsoft.com/office/officeart/2018/2/layout/IconVerticalSolidList"/>
    <dgm:cxn modelId="{0F431EA7-12D9-4D9F-B87C-3081466E6085}" type="presOf" srcId="{37023409-DDEA-445B-877E-A980F277427B}" destId="{B055885B-B0CE-4CA8-8DB5-F2FEFCEEA7F1}" srcOrd="0" destOrd="0" presId="urn:microsoft.com/office/officeart/2018/2/layout/IconVerticalSolidList"/>
    <dgm:cxn modelId="{1F08F7AF-FEC0-4A05-828A-969DE2E3C54F}" srcId="{861FE19E-4467-4982-A8A6-E0442B2C1BC9}" destId="{9EF3C5C3-1736-4654-A8EE-FF133F5449D8}" srcOrd="0" destOrd="0" parTransId="{852D930F-A2A7-4977-9C54-239B2BA22B6F}" sibTransId="{2C6985D5-FAE6-4816-BE8A-5ADE6B235D1E}"/>
    <dgm:cxn modelId="{952206BA-FFA5-4276-B1AD-A390C14B1F82}" type="presOf" srcId="{861FE19E-4467-4982-A8A6-E0442B2C1BC9}" destId="{86A49150-25C1-45AE-95DD-43DDF0E2B36B}" srcOrd="0" destOrd="0" presId="urn:microsoft.com/office/officeart/2018/2/layout/IconVerticalSolidList"/>
    <dgm:cxn modelId="{9230F6BE-8644-40E0-8D1A-30FE4F6AE7B5}" type="presOf" srcId="{894DCE72-EB22-4FD3-8BF6-2DDEE9526823}" destId="{B055885B-B0CE-4CA8-8DB5-F2FEFCEEA7F1}" srcOrd="0" destOrd="1" presId="urn:microsoft.com/office/officeart/2018/2/layout/IconVerticalSolidList"/>
    <dgm:cxn modelId="{6B502ADE-8E5A-4B78-A258-E44111E79877}" type="presOf" srcId="{A8091141-4AFD-4760-86FA-C93F68081AB2}" destId="{300F56DA-3DE5-47E4-A0E4-7E848BD4957C}" srcOrd="0" destOrd="0" presId="urn:microsoft.com/office/officeart/2018/2/layout/IconVerticalSolidList"/>
    <dgm:cxn modelId="{FE3EBCDF-877B-4F8D-9599-15EA8D73A7A3}" type="presOf" srcId="{79AF7A30-CD1E-4C51-A8BF-365ADEB4DD33}" destId="{14D7C4BD-94B2-4812-B15E-8182BA86B6F4}" srcOrd="0" destOrd="1" presId="urn:microsoft.com/office/officeart/2018/2/layout/IconVerticalSolidList"/>
    <dgm:cxn modelId="{1940DDE8-3184-4890-A5F9-D5C994CE04FB}" srcId="{515B416F-B591-4EAD-8405-4BDF89DE74D1}" destId="{3711B429-D523-43A4-9695-2939A6AFEE47}" srcOrd="2" destOrd="0" parTransId="{40091643-BCC9-433A-9631-92D5169AB0DC}" sibTransId="{E706D55E-00AE-4749-9D6F-135E55F5CBF8}"/>
    <dgm:cxn modelId="{8B1B9B0F-A864-49BF-A885-33631161729E}" type="presParOf" srcId="{300F56DA-3DE5-47E4-A0E4-7E848BD4957C}" destId="{AD5C437C-390F-4C6A-A2EC-281A3F7CE356}" srcOrd="0" destOrd="0" presId="urn:microsoft.com/office/officeart/2018/2/layout/IconVerticalSolidList"/>
    <dgm:cxn modelId="{065F47C8-C1C4-4E34-8DE8-84B1256BC99F}" type="presParOf" srcId="{AD5C437C-390F-4C6A-A2EC-281A3F7CE356}" destId="{8C78E079-52EA-4982-BF9B-89211FD8F7D3}" srcOrd="0" destOrd="0" presId="urn:microsoft.com/office/officeart/2018/2/layout/IconVerticalSolidList"/>
    <dgm:cxn modelId="{53226F75-3598-4CDA-944D-5A4A92C1EFD0}" type="presParOf" srcId="{AD5C437C-390F-4C6A-A2EC-281A3F7CE356}" destId="{4BDF677D-854F-40A0-B9D4-872B00354EC0}" srcOrd="1" destOrd="0" presId="urn:microsoft.com/office/officeart/2018/2/layout/IconVerticalSolidList"/>
    <dgm:cxn modelId="{29B7DCAE-7950-48DD-AD02-8221D46153A0}" type="presParOf" srcId="{AD5C437C-390F-4C6A-A2EC-281A3F7CE356}" destId="{221B852C-6A23-458D-A6EA-48E8614D28E1}" srcOrd="2" destOrd="0" presId="urn:microsoft.com/office/officeart/2018/2/layout/IconVerticalSolidList"/>
    <dgm:cxn modelId="{A8B1822A-C5A2-46F2-A365-37538634A9A5}" type="presParOf" srcId="{AD5C437C-390F-4C6A-A2EC-281A3F7CE356}" destId="{63F0C9E7-97F5-4FAC-9F92-4F2F2520C471}" srcOrd="3" destOrd="0" presId="urn:microsoft.com/office/officeart/2018/2/layout/IconVerticalSolidList"/>
    <dgm:cxn modelId="{5AE0DB64-7BD4-4FA4-9F45-C93231837F69}" type="presParOf" srcId="{AD5C437C-390F-4C6A-A2EC-281A3F7CE356}" destId="{B055885B-B0CE-4CA8-8DB5-F2FEFCEEA7F1}" srcOrd="4" destOrd="0" presId="urn:microsoft.com/office/officeart/2018/2/layout/IconVerticalSolidList"/>
    <dgm:cxn modelId="{1C01883A-7798-4293-8CAD-4457486BC80A}" type="presParOf" srcId="{300F56DA-3DE5-47E4-A0E4-7E848BD4957C}" destId="{53AE49A0-3DAD-4DFD-97CD-64110D1055D3}" srcOrd="1" destOrd="0" presId="urn:microsoft.com/office/officeart/2018/2/layout/IconVerticalSolidList"/>
    <dgm:cxn modelId="{30AFA074-C2AE-4226-BE34-8A1514E08510}" type="presParOf" srcId="{300F56DA-3DE5-47E4-A0E4-7E848BD4957C}" destId="{D906B401-5B1C-481F-A200-58B17778EB04}" srcOrd="2" destOrd="0" presId="urn:microsoft.com/office/officeart/2018/2/layout/IconVerticalSolidList"/>
    <dgm:cxn modelId="{C0DDDEF3-661E-408D-8895-4E9082D41674}" type="presParOf" srcId="{D906B401-5B1C-481F-A200-58B17778EB04}" destId="{E8225F7A-9047-446F-A95D-41026BF703DB}" srcOrd="0" destOrd="0" presId="urn:microsoft.com/office/officeart/2018/2/layout/IconVerticalSolidList"/>
    <dgm:cxn modelId="{481AB188-858A-4D33-BDB2-7FCDF33E154D}" type="presParOf" srcId="{D906B401-5B1C-481F-A200-58B17778EB04}" destId="{789000EB-8B8E-450B-9FA8-F5F1D4A48CB8}" srcOrd="1" destOrd="0" presId="urn:microsoft.com/office/officeart/2018/2/layout/IconVerticalSolidList"/>
    <dgm:cxn modelId="{52A5D8A3-5CEB-4404-B99B-963CDD1894FF}" type="presParOf" srcId="{D906B401-5B1C-481F-A200-58B17778EB04}" destId="{2B976A0F-B1AB-4D03-9483-1A70F83A7B0E}" srcOrd="2" destOrd="0" presId="urn:microsoft.com/office/officeart/2018/2/layout/IconVerticalSolidList"/>
    <dgm:cxn modelId="{57CD5C6E-1D15-4E2A-A215-7D1004D5B1C0}" type="presParOf" srcId="{D906B401-5B1C-481F-A200-58B17778EB04}" destId="{86A49150-25C1-45AE-95DD-43DDF0E2B36B}" srcOrd="3" destOrd="0" presId="urn:microsoft.com/office/officeart/2018/2/layout/IconVerticalSolidList"/>
    <dgm:cxn modelId="{9042A5B6-2923-489A-B2BC-A79254BC871E}" type="presParOf" srcId="{D906B401-5B1C-481F-A200-58B17778EB04}" destId="{14D7C4BD-94B2-4812-B15E-8182BA86B6F4}" srcOrd="4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8E079-52EA-4982-BF9B-89211FD8F7D3}">
      <dsp:nvSpPr>
        <dsp:cNvPr id="0" name=""/>
        <dsp:cNvSpPr/>
      </dsp:nvSpPr>
      <dsp:spPr>
        <a:xfrm>
          <a:off x="-127363" y="425965"/>
          <a:ext cx="9780587" cy="21942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F677D-854F-40A0-B9D4-872B00354EC0}">
      <dsp:nvSpPr>
        <dsp:cNvPr id="0" name=""/>
        <dsp:cNvSpPr/>
      </dsp:nvSpPr>
      <dsp:spPr>
        <a:xfrm>
          <a:off x="356610" y="1083113"/>
          <a:ext cx="879951" cy="8799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0C9E7-97F5-4FAC-9F92-4F2F2520C471}">
      <dsp:nvSpPr>
        <dsp:cNvPr id="0" name=""/>
        <dsp:cNvSpPr/>
      </dsp:nvSpPr>
      <dsp:spPr>
        <a:xfrm>
          <a:off x="1720535" y="723133"/>
          <a:ext cx="4401264" cy="159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24" tIns="169324" rIns="169324" bIns="16932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Task Distribution (Work Breakdown Structure):</a:t>
          </a:r>
          <a:endParaRPr lang="en-US" sz="2400" kern="1200"/>
        </a:p>
      </dsp:txBody>
      <dsp:txXfrm>
        <a:off x="1720535" y="723133"/>
        <a:ext cx="4401264" cy="1599912"/>
      </dsp:txXfrm>
    </dsp:sp>
    <dsp:sp modelId="{B055885B-B0CE-4CA8-8DB5-F2FEFCEEA7F1}">
      <dsp:nvSpPr>
        <dsp:cNvPr id="0" name=""/>
        <dsp:cNvSpPr/>
      </dsp:nvSpPr>
      <dsp:spPr>
        <a:xfrm>
          <a:off x="5667523" y="713805"/>
          <a:ext cx="4044492" cy="159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24" tIns="169324" rIns="169324" bIns="16932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Hardware :</a:t>
          </a:r>
          <a:r>
            <a:rPr lang="en-US" sz="1600" kern="1200" dirty="0"/>
            <a:t> Raspberry Pi , mic/speaker , camera ,</a:t>
          </a:r>
          <a:r>
            <a:rPr lang="en-IN" sz="1600" kern="1200" dirty="0"/>
            <a:t> GPS Module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Backend:</a:t>
          </a:r>
          <a:r>
            <a:rPr lang="en-US" sz="1600" kern="1200" dirty="0"/>
            <a:t> pyttsx3, YOLOv11 model,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memory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Object detection and adaptive voice alert:</a:t>
          </a:r>
          <a:r>
            <a:rPr lang="en-US" sz="1600" kern="1200" dirty="0"/>
            <a:t> detection, voice alerts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Deployment:</a:t>
          </a:r>
          <a:r>
            <a:rPr lang="en-US" sz="1600" kern="1200" dirty="0"/>
            <a:t> hosting, security, testing</a:t>
          </a:r>
        </a:p>
      </dsp:txBody>
      <dsp:txXfrm>
        <a:off x="5667523" y="713805"/>
        <a:ext cx="4044492" cy="1599912"/>
      </dsp:txXfrm>
    </dsp:sp>
    <dsp:sp modelId="{E8225F7A-9047-446F-A95D-41026BF703DB}">
      <dsp:nvSpPr>
        <dsp:cNvPr id="0" name=""/>
        <dsp:cNvSpPr/>
      </dsp:nvSpPr>
      <dsp:spPr>
        <a:xfrm>
          <a:off x="-127363" y="3029519"/>
          <a:ext cx="9780587" cy="19077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000EB-8B8E-450B-9FA8-F5F1D4A48CB8}">
      <dsp:nvSpPr>
        <dsp:cNvPr id="0" name=""/>
        <dsp:cNvSpPr/>
      </dsp:nvSpPr>
      <dsp:spPr>
        <a:xfrm>
          <a:off x="356610" y="3534099"/>
          <a:ext cx="879951" cy="8799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49150-25C1-45AE-95DD-43DDF0E2B36B}">
      <dsp:nvSpPr>
        <dsp:cNvPr id="0" name=""/>
        <dsp:cNvSpPr/>
      </dsp:nvSpPr>
      <dsp:spPr>
        <a:xfrm>
          <a:off x="1720535" y="3174119"/>
          <a:ext cx="4401264" cy="159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24" tIns="169324" rIns="169324" bIns="16932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Cost Estimation (Formula: Total Cost = Hosting + APIs + Storage/Misc+Hardware):</a:t>
          </a:r>
          <a:endParaRPr lang="en-US" sz="2400" kern="1200" dirty="0"/>
        </a:p>
      </dsp:txBody>
      <dsp:txXfrm>
        <a:off x="1720535" y="3174119"/>
        <a:ext cx="4401264" cy="1599912"/>
      </dsp:txXfrm>
    </dsp:sp>
    <dsp:sp modelId="{14D7C4BD-94B2-4812-B15E-8182BA86B6F4}">
      <dsp:nvSpPr>
        <dsp:cNvPr id="0" name=""/>
        <dsp:cNvSpPr/>
      </dsp:nvSpPr>
      <dsp:spPr>
        <a:xfrm>
          <a:off x="5951406" y="3174119"/>
          <a:ext cx="3868595" cy="159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24" tIns="169324" rIns="169324" bIns="16932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Raspberry Pi: </a:t>
          </a:r>
          <a:r>
            <a:rPr lang="en-US" sz="1600" b="1" kern="1200" dirty="0"/>
            <a:t>₹6500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Ultrasonic Sensors: </a:t>
          </a:r>
          <a:r>
            <a:rPr lang="en-US" sz="1600" b="1" kern="1200" dirty="0"/>
            <a:t>₹300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GPS Module: ₹800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Storage/Misc: </a:t>
          </a:r>
          <a:r>
            <a:rPr lang="en-US" sz="1600" b="1" kern="1200" dirty="0"/>
            <a:t>₹500</a:t>
          </a:r>
          <a:r>
            <a:rPr lang="en-US" sz="1600" kern="1200" dirty="0"/>
            <a:t> (one-time/monthly approx.)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Camera: </a:t>
          </a:r>
          <a:r>
            <a:rPr lang="en-US" sz="1600" b="1" kern="1200" dirty="0"/>
            <a:t>₹500</a:t>
          </a:r>
          <a:endParaRPr lang="en-US" sz="1600" kern="1200" dirty="0"/>
        </a:p>
      </dsp:txBody>
      <dsp:txXfrm>
        <a:off x="5951406" y="3174119"/>
        <a:ext cx="3868595" cy="1599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872A3-97A3-48A8-89E7-139BFD7C733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973BB-7DD8-40C8-BF5D-BC14D9B52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40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973BB-7DD8-40C8-BF5D-BC14D9B52FC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70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1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22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2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3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1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3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2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2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1199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2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5195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11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76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79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4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  <p:sldLayoutId id="2147484043" r:id="rId13"/>
    <p:sldLayoutId id="2147484044" r:id="rId14"/>
    <p:sldLayoutId id="2147484045" r:id="rId15"/>
    <p:sldLayoutId id="2147484046" r:id="rId16"/>
    <p:sldLayoutId id="214748404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300" y="2002050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Eye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System with Adaptive Voice Alerts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B276EBF-386B-9596-1D83-6A1825490A78}"/>
              </a:ext>
            </a:extLst>
          </p:cNvPr>
          <p:cNvSpPr txBox="1">
            <a:spLocks/>
          </p:cNvSpPr>
          <p:nvPr/>
        </p:nvSpPr>
        <p:spPr>
          <a:xfrm>
            <a:off x="725214" y="1863482"/>
            <a:ext cx="10741572" cy="44855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IN" sz="3100" spc="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6;p13">
            <a:extLst>
              <a:ext uri="{FF2B5EF4-FFF2-40B4-BE49-F238E27FC236}">
                <a16:creationId xmlns:a16="http://schemas.microsoft.com/office/drawing/2014/main" id="{E13E5A14-DA26-2327-BB34-B1D633473EA9}"/>
              </a:ext>
            </a:extLst>
          </p:cNvPr>
          <p:cNvSpPr txBox="1"/>
          <p:nvPr/>
        </p:nvSpPr>
        <p:spPr>
          <a:xfrm>
            <a:off x="1975258" y="300255"/>
            <a:ext cx="9902109" cy="85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457200">
              <a:buClr>
                <a:srgbClr val="000000"/>
              </a:buClr>
              <a:buSzPts val="2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 DISTRICT EDUCATION ASSOCIATION'S                                                                                                               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COLLEGE OF ENGINEERING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Manjari (BK), Pune - 412307 (Maharashtra) India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**NAAC Accredited**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pic>
        <p:nvPicPr>
          <p:cNvPr id="1028" name="Picture 4" descr="Home | PDEA - PDEA">
            <a:extLst>
              <a:ext uri="{FF2B5EF4-FFF2-40B4-BE49-F238E27FC236}">
                <a16:creationId xmlns:a16="http://schemas.microsoft.com/office/drawing/2014/main" id="{C185EF77-75F5-3FF6-3C38-0DD18C31B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070" y="406097"/>
            <a:ext cx="1400165" cy="122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University Emblem : Savitribai Phule Pune University offers undergraduate,  postgraduate and doctoral programs in sciences, languages, social sciences,  law, management and other interdisciplinary programs.">
            <a:extLst>
              <a:ext uri="{FF2B5EF4-FFF2-40B4-BE49-F238E27FC236}">
                <a16:creationId xmlns:a16="http://schemas.microsoft.com/office/drawing/2014/main" id="{681D5ED0-AA0B-80CB-E2D6-A094BBFD0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83" y="376458"/>
            <a:ext cx="1400165" cy="113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B25038-046F-884B-B26F-01C0FD1844AD}"/>
              </a:ext>
            </a:extLst>
          </p:cNvPr>
          <p:cNvSpPr txBox="1"/>
          <p:nvPr/>
        </p:nvSpPr>
        <p:spPr>
          <a:xfrm>
            <a:off x="1380300" y="3340971"/>
            <a:ext cx="76494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 Naina Singh ( B400260)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Dipak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Sirsath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(B400260)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Samruddhi Lomate (B400260)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Prathmesh Udar (B400260207)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 : PDEA-COEM-Comp-38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: Prof. S.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: BE Computer Engineering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2EF5EEC-D607-4498-AE7D-5F626BCA4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5554" y="626973"/>
            <a:ext cx="3094803" cy="633503"/>
          </a:xfrm>
          <a:prstGeom prst="rect">
            <a:avLst/>
          </a:prstGeom>
        </p:spPr>
        <p:txBody>
          <a:bodyPr vert="horz" wrap="square" lIns="0" tIns="17776" rIns="0" bIns="0" rtlCol="0">
            <a:spAutoFit/>
          </a:bodyPr>
          <a:lstStyle/>
          <a:p>
            <a:pPr marL="17776">
              <a:spcBef>
                <a:spcPts val="140"/>
              </a:spcBef>
            </a:pPr>
            <a:r>
              <a:rPr spc="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F5C3CDA-0F42-4CF1-90B2-18CC74F6B489}"/>
              </a:ext>
            </a:extLst>
          </p:cNvPr>
          <p:cNvSpPr txBox="1"/>
          <p:nvPr/>
        </p:nvSpPr>
        <p:spPr>
          <a:xfrm>
            <a:off x="1478518" y="1469369"/>
            <a:ext cx="4415088" cy="5246933"/>
          </a:xfrm>
          <a:prstGeom prst="rect">
            <a:avLst/>
          </a:prstGeom>
        </p:spPr>
        <p:txBody>
          <a:bodyPr vert="horz" wrap="square" lIns="0" tIns="75549" rIns="0" bIns="0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Motivation, 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/survey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 &amp; Challenges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(Time &amp; Cost Estimation)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&amp; SRS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CD30F-F65A-2A4F-237F-0EA4C81FA9D8}"/>
              </a:ext>
            </a:extLst>
          </p:cNvPr>
          <p:cNvSpPr txBox="1"/>
          <p:nvPr/>
        </p:nvSpPr>
        <p:spPr>
          <a:xfrm>
            <a:off x="6532419" y="1462048"/>
            <a:ext cx="50838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System Architecture/Design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Structural &amp; Behavioral Diagrams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Challenges &amp; Risk Management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</a:t>
            </a: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Comparative 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</a:t>
            </a: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Research Publication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Awards &amp; Participation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(Phase II)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Q&amp;A / Thank You</a:t>
            </a:r>
          </a:p>
        </p:txBody>
      </p:sp>
    </p:spTree>
    <p:extLst>
      <p:ext uri="{BB962C8B-B14F-4D97-AF65-F5344CB8AC3E}">
        <p14:creationId xmlns:p14="http://schemas.microsoft.com/office/powerpoint/2010/main" val="3399655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2AC7-B633-E5D8-2369-9E1C89B2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023" y="621576"/>
            <a:ext cx="3828159" cy="104279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20E720-527F-C7AB-642C-AEDBB437B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3614" y="1480718"/>
            <a:ext cx="1018477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Project Domain: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system with integration of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IOT and Assistive Technology named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Eye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face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navigation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Traditional aids (sticks, guide dog) lack object recognition and direction information. Existing smart devices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Need for an affordable ,intelligent assistive system for real time awareness.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mobility and safety for blind users.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vision + voice feedback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accessibility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“Technology for Social Good”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inclusion Innovation.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63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40FF5-7DE7-C79B-2445-A21EF49E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631" y="690903"/>
            <a:ext cx="4937136" cy="61672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CC1617-726D-DDC9-0D81-59BC986A5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0899" y="1647273"/>
            <a:ext cx="10558772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face immense challenges in perceiving their surroundings and avoiding obstacles while moving independently. Traditional aids provide limited spatial awareness and cannot recognize or describe nearby objects.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design and develop an AI-powered assistive system using Raspberry Pi, YOLOv11, ultrasonic sensors, and GPS technology for real-time object detection, location tracking, navigation assistance, and adaptive voice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61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739" y="736820"/>
            <a:ext cx="2625879" cy="717908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07E2B5-3C96-F43A-1772-4CF65C92C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9929" y="1705599"/>
            <a:ext cx="9396711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visually impaired people struggle with independent mobility. Traditional aids like sticks and guide dogs provide limited environmental awareness and no object recognition.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IoT technologies make it possible to build affordable smart assistive systems. The proposed system uses YOLOv11, Raspberry Pi, ultrasonic sensors, and GPS technology for real-time object detection, navigation assistance, location tracking, and adaptive voice alerts, helping users move safely and confidently.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458" y="677692"/>
            <a:ext cx="5519604" cy="11091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193" y="1232242"/>
            <a:ext cx="10495967" cy="5797686"/>
          </a:xfrm>
        </p:spPr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(Goal):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an AI-powered assistive system using Raspberry Pi, YOLOv11, ultrasonic sensors, and GPS technology for visually impaired individuals.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Objectives: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object detection, distance estimation, and direction identification using YOLOv11 and sensors.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adaptive voice feedback indicating object type, distance, and direction.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GPS-based location tracking and navigation assistance for safer mobility.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731D-34BD-BA50-126D-EDBDA4B50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16E863-F796-4FDF-6C13-D9E21201B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588318"/>
              </p:ext>
            </p:extLst>
          </p:nvPr>
        </p:nvGraphicFramePr>
        <p:xfrm>
          <a:off x="871737" y="663432"/>
          <a:ext cx="10448525" cy="8656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0917">
                  <a:extLst>
                    <a:ext uri="{9D8B030D-6E8A-4147-A177-3AD203B41FA5}">
                      <a16:colId xmlns:a16="http://schemas.microsoft.com/office/drawing/2014/main" val="2391401310"/>
                    </a:ext>
                  </a:extLst>
                </a:gridCol>
                <a:gridCol w="1336916">
                  <a:extLst>
                    <a:ext uri="{9D8B030D-6E8A-4147-A177-3AD203B41FA5}">
                      <a16:colId xmlns:a16="http://schemas.microsoft.com/office/drawing/2014/main" val="2065607030"/>
                    </a:ext>
                  </a:extLst>
                </a:gridCol>
                <a:gridCol w="556880">
                  <a:extLst>
                    <a:ext uri="{9D8B030D-6E8A-4147-A177-3AD203B41FA5}">
                      <a16:colId xmlns:a16="http://schemas.microsoft.com/office/drawing/2014/main" val="2039979139"/>
                    </a:ext>
                  </a:extLst>
                </a:gridCol>
                <a:gridCol w="2295019">
                  <a:extLst>
                    <a:ext uri="{9D8B030D-6E8A-4147-A177-3AD203B41FA5}">
                      <a16:colId xmlns:a16="http://schemas.microsoft.com/office/drawing/2014/main" val="3749842998"/>
                    </a:ext>
                  </a:extLst>
                </a:gridCol>
                <a:gridCol w="1459700">
                  <a:extLst>
                    <a:ext uri="{9D8B030D-6E8A-4147-A177-3AD203B41FA5}">
                      <a16:colId xmlns:a16="http://schemas.microsoft.com/office/drawing/2014/main" val="3374108651"/>
                    </a:ext>
                  </a:extLst>
                </a:gridCol>
                <a:gridCol w="1645326">
                  <a:extLst>
                    <a:ext uri="{9D8B030D-6E8A-4147-A177-3AD203B41FA5}">
                      <a16:colId xmlns:a16="http://schemas.microsoft.com/office/drawing/2014/main" val="2277494412"/>
                    </a:ext>
                  </a:extLst>
                </a:gridCol>
                <a:gridCol w="1923767">
                  <a:extLst>
                    <a:ext uri="{9D8B030D-6E8A-4147-A177-3AD203B41FA5}">
                      <a16:colId xmlns:a16="http://schemas.microsoft.com/office/drawing/2014/main" val="1871279582"/>
                    </a:ext>
                  </a:extLst>
                </a:gridCol>
              </a:tblGrid>
              <a:tr h="682378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Research Highlights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Tech Stack / Algorithms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926729"/>
                  </a:ext>
                </a:extLst>
              </a:tr>
              <a:tr h="1480943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YOLO-Based Object Recognition System for visually impaired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Akshaya M. George</a:t>
                      </a:r>
                    </a:p>
                    <a:p>
                      <a:pPr algn="l">
                        <a:defRPr sz="900"/>
                      </a:pPr>
                      <a:r>
                        <a:rPr lang="en-IN" sz="1600" dirty="0"/>
                        <a:t>Aswathy Ramachandran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202</a:t>
                      </a:r>
                      <a:r>
                        <a:rPr lang="en-US" sz="1600" dirty="0"/>
                        <a:t>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0" dirty="0"/>
                        <a:t>YOLOv3-based object recognition system </a:t>
                      </a:r>
                      <a:r>
                        <a:rPr lang="en-US" sz="1600" dirty="0"/>
                        <a:t>achieved high accuracy and demonstrated superior real-time performance on a Raspberry Pi setup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average accuracy rate of </a:t>
                      </a:r>
                      <a:r>
                        <a:rPr lang="en-US" sz="1600" b="0" dirty="0"/>
                        <a:t>98%</a:t>
                      </a:r>
                      <a:r>
                        <a:rPr sz="1600" dirty="0"/>
                        <a:t>, </a:t>
                      </a:r>
                      <a:r>
                        <a:rPr lang="en-IN" sz="1600" b="0" dirty="0"/>
                        <a:t>4-6 frames per second 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YOLO v3 Algorithm , Text-to-speech conversion method , Raspberry Pi (3 Model b) , OpenCV , COCO dataset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not completely satisfactory,</a:t>
                      </a:r>
                      <a:r>
                        <a:rPr lang="en-US" sz="1600" dirty="0"/>
                        <a:t> criticized for containing certain flaws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63664"/>
                  </a:ext>
                </a:extLst>
              </a:tr>
              <a:tr h="17132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Real-time efficiency of YOLOv5 and YOLOv8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Ali Hassan </a:t>
                      </a:r>
                      <a:r>
                        <a:rPr lang="en-IN" sz="1600" dirty="0" err="1"/>
                        <a:t>Sodhro</a:t>
                      </a:r>
                      <a:r>
                        <a:rPr lang="en-IN" sz="1600" dirty="0"/>
                        <a:t> , Sathwik </a:t>
                      </a:r>
                      <a:r>
                        <a:rPr lang="en-IN" sz="1600" dirty="0" err="1"/>
                        <a:t>Kannam,Michel</a:t>
                      </a:r>
                      <a:r>
                        <a:rPr lang="en-IN" sz="1600" dirty="0"/>
                        <a:t> Jensen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202</a:t>
                      </a:r>
                      <a:r>
                        <a:rPr lang="en-US" sz="1600" dirty="0"/>
                        <a:t>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Comparative analysis of </a:t>
                      </a:r>
                      <a:r>
                        <a:rPr lang="en-US" sz="1600" b="0" dirty="0"/>
                        <a:t>YOLOv5 and YOLOv8 real-time confidence </a:t>
                      </a:r>
                      <a:r>
                        <a:rPr lang="en-US" sz="1600" dirty="0"/>
                        <a:t>in human intrusion detection across diverse environments</a:t>
                      </a:r>
                      <a:r>
                        <a:rPr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Higher confidence scores, models perform </a:t>
                      </a:r>
                      <a:r>
                        <a:rPr lang="en-IN" sz="1600" b="0" dirty="0"/>
                        <a:t>better outdoors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YOLOv5, YOLOv8 (yolov8n.pt) , IP camera, Jetson Nano , TSL2591 luminance sensor , OpenCV , Flask server.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neglecting real-time performance and the impact of environmental factors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7510"/>
                  </a:ext>
                </a:extLst>
              </a:tr>
              <a:tr h="1945552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 err="1"/>
                        <a:t>ThirdEye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 err="1"/>
                        <a:t>KoppalaGuravaiah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202</a:t>
                      </a:r>
                      <a:r>
                        <a:rPr lang="en-US" sz="1600" dirty="0"/>
                        <a:t>3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"Third Eye" </a:t>
                      </a:r>
                      <a:r>
                        <a:rPr lang="en-US" sz="1600" b="0" dirty="0"/>
                        <a:t>used YOLOv5 for object detection and </a:t>
                      </a:r>
                      <a:r>
                        <a:rPr lang="en-US" sz="1600" b="0" dirty="0" err="1"/>
                        <a:t>gTTS</a:t>
                      </a:r>
                      <a:r>
                        <a:rPr lang="en-US" sz="1600" b="0" dirty="0"/>
                        <a:t>/pyttsx3 for speech generation to assist </a:t>
                      </a:r>
                      <a:r>
                        <a:rPr lang="en-US" sz="1600" dirty="0"/>
                        <a:t>the visually impaired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aid navigation provide environmental awareness, warning mechanism on object proximity.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YOLOv3 ,CNNs , Text-to-speech (TTS) technology , SSD COCO DATASETS , Python , MySQL Database , Apache Tomcat.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b="0" dirty="0"/>
                        <a:t>limited number of objects in the dataset or focusing only on indoor navigation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5581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FD30918-32E3-45F8-82CE-41854E0AA814}"/>
              </a:ext>
            </a:extLst>
          </p:cNvPr>
          <p:cNvSpPr txBox="1">
            <a:spLocks/>
          </p:cNvSpPr>
          <p:nvPr/>
        </p:nvSpPr>
        <p:spPr>
          <a:xfrm>
            <a:off x="214604" y="52040"/>
            <a:ext cx="11085921" cy="4266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/>
              <a:t>Literature Review  </a:t>
            </a:r>
          </a:p>
        </p:txBody>
      </p:sp>
    </p:spTree>
    <p:extLst>
      <p:ext uri="{BB962C8B-B14F-4D97-AF65-F5344CB8AC3E}">
        <p14:creationId xmlns:p14="http://schemas.microsoft.com/office/powerpoint/2010/main" val="871519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985FFD-6DA8-BD52-D26D-122677B45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43549"/>
              </p:ext>
            </p:extLst>
          </p:nvPr>
        </p:nvGraphicFramePr>
        <p:xfrm>
          <a:off x="1049483" y="116564"/>
          <a:ext cx="10934994" cy="7924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35047">
                  <a:extLst>
                    <a:ext uri="{9D8B030D-6E8A-4147-A177-3AD203B41FA5}">
                      <a16:colId xmlns:a16="http://schemas.microsoft.com/office/drawing/2014/main" val="2391401310"/>
                    </a:ext>
                  </a:extLst>
                </a:gridCol>
                <a:gridCol w="1417008">
                  <a:extLst>
                    <a:ext uri="{9D8B030D-6E8A-4147-A177-3AD203B41FA5}">
                      <a16:colId xmlns:a16="http://schemas.microsoft.com/office/drawing/2014/main" val="2065607030"/>
                    </a:ext>
                  </a:extLst>
                </a:gridCol>
                <a:gridCol w="667630">
                  <a:extLst>
                    <a:ext uri="{9D8B030D-6E8A-4147-A177-3AD203B41FA5}">
                      <a16:colId xmlns:a16="http://schemas.microsoft.com/office/drawing/2014/main" val="2039979139"/>
                    </a:ext>
                  </a:extLst>
                </a:gridCol>
                <a:gridCol w="1961610">
                  <a:extLst>
                    <a:ext uri="{9D8B030D-6E8A-4147-A177-3AD203B41FA5}">
                      <a16:colId xmlns:a16="http://schemas.microsoft.com/office/drawing/2014/main" val="3749842998"/>
                    </a:ext>
                  </a:extLst>
                </a:gridCol>
                <a:gridCol w="1923285">
                  <a:extLst>
                    <a:ext uri="{9D8B030D-6E8A-4147-A177-3AD203B41FA5}">
                      <a16:colId xmlns:a16="http://schemas.microsoft.com/office/drawing/2014/main" val="3374108651"/>
                    </a:ext>
                  </a:extLst>
                </a:gridCol>
                <a:gridCol w="1203151">
                  <a:extLst>
                    <a:ext uri="{9D8B030D-6E8A-4147-A177-3AD203B41FA5}">
                      <a16:colId xmlns:a16="http://schemas.microsoft.com/office/drawing/2014/main" val="2277494412"/>
                    </a:ext>
                  </a:extLst>
                </a:gridCol>
                <a:gridCol w="2327263">
                  <a:extLst>
                    <a:ext uri="{9D8B030D-6E8A-4147-A177-3AD203B41FA5}">
                      <a16:colId xmlns:a16="http://schemas.microsoft.com/office/drawing/2014/main" val="1871279582"/>
                    </a:ext>
                  </a:extLst>
                </a:gridCol>
              </a:tblGrid>
              <a:tr h="976795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Research Highlights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Tech Stack / Algorithms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926729"/>
                  </a:ext>
                </a:extLst>
              </a:tr>
              <a:tr h="1938673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400" dirty="0"/>
                        <a:t>OBJECT DETECTION AND ALERT SYSTEM FOR VISUALLY IMPAIRED PEOPLE 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Mr. P. Sudhakar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202</a:t>
                      </a:r>
                      <a:r>
                        <a:rPr lang="en-US" sz="1600" dirty="0"/>
                        <a:t>3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Implementation of </a:t>
                      </a:r>
                      <a:r>
                        <a:rPr lang="en-US" sz="1600" b="1" dirty="0"/>
                        <a:t>YOLOv3 for real-time object identification</a:t>
                      </a:r>
                      <a:r>
                        <a:rPr lang="en-US" sz="1600" dirty="0"/>
                        <a:t> and a voice alert system to aid navigation for the visually impaired.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average accuracy rate of </a:t>
                      </a:r>
                      <a:r>
                        <a:rPr lang="en-US" sz="1600" b="1" dirty="0"/>
                        <a:t>98%</a:t>
                      </a:r>
                      <a:r>
                        <a:rPr sz="1600" dirty="0"/>
                        <a:t>, </a:t>
                      </a:r>
                      <a:r>
                        <a:rPr lang="en-IN" sz="1600" b="0" dirty="0"/>
                        <a:t>4-6 frames per second 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YOLOv3 (You Only Look Once version 3) algorithm , Computer Vision technologies , Text to Speech conversion technique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IN" sz="1600" dirty="0"/>
                        <a:t>Expensive IoT devices, data over-burden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63664"/>
                  </a:ext>
                </a:extLst>
              </a:tr>
              <a:tr h="1244223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600" dirty="0"/>
                        <a:t>Text to speech converter 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Frank Seide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Real-time speech transcription using token-streaming LLM.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Streaming ASR, low-latency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Real-time Whisper, KV Cache, DeepSpeed-Inference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No AI reply or personalization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55812"/>
                  </a:ext>
                </a:extLst>
              </a:tr>
              <a:tr h="1046491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BERT-ERC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Y. Qin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Emotion recognition in multi-turn dialogue using transformers.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Emotion detection, speaker-aware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/>
                        <a:t>BERT, DialogueRNN,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600" dirty="0"/>
                        <a:t>Only text-based, no video/audio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169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9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616" y="682252"/>
            <a:ext cx="5607152" cy="7198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B0F5C6-B11B-FAEE-7375-78CA2E4DF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2801" y="1261127"/>
            <a:ext cx="848974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– devices like OrCam or Ally Solos are expensive.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 – limited offline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faces, text, and objects using AI.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cloud processing for recognition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basic navigation guidance through GPS.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 cloud connectivity for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fees are needed for full access to features.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92" y="587223"/>
            <a:ext cx="6640517" cy="62613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 and Challenges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8E97F6-538A-2681-B0C8-84B9293E2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7247" y="1139002"/>
            <a:ext cx="10470560" cy="5955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OrCam My Eye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Smart wearable camera that reads text, recognizes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&amp; objects.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Limitations/Gaps in Existing Systems (Commercial and Research):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cost – unaffordable for most users.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object detection accuracy in complex or dark environments.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constant internet or cloud connectivity.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battery life and heavy hardware.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adaptive alerts for distance or direction.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caregiver dashboard for monitoring user safety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on limited Raspberry Pi resources.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Eye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Improvement (Gap Filling):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solution using Raspberry Pi and open-source AI models.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with YOLOv11 on edge device (offline capable).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&amp; direction estimation using ultrasonic sensors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voice alerts for contextual awareness.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GPS-based navigation and live location tracking for safer mobility.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0E0B-C65C-481E-41E2-85AC711A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115" y="727377"/>
            <a:ext cx="4937136" cy="5746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B2E6F4-83AD-A7C2-781E-329125F5AA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933" y="1424335"/>
            <a:ext cx="1049900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real-time object detection system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voice alerts, distance estimation, direction detection, and GPS navigation assistance for visually impaired users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Block Diagram: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(The following is the high-level flow)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Detection Command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captures real-time surroundings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 detects objects from live feed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measures distance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identifies object direction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provides location tracking/navigation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gives adaptive voice alerts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0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6B3F-CA96-B726-A886-F7850047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501" y="420332"/>
            <a:ext cx="4169881" cy="66927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EF432-1F0A-1143-AA54-56AC7C6EF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2838" y="1230126"/>
            <a:ext cx="9869584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Technologies, and Algorithms: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Model/ Voice processing : YOLOv11 ,pyttsx3.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 , Microphone , Camera , Ultrasonic Sensors 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Module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Logic: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Capture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image/video frames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using YOLOv11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pyttsx3 , direction and distance estimation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location tracking and navigation assistance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Phases (Workflow):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 and sensor calibration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real-time detection setup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distance, direction, and GPS modules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alert generation and optimization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deployment 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39510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D5EB-9419-A7E7-6202-F0338E10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214" y="263311"/>
            <a:ext cx="4211922" cy="911015"/>
          </a:xfrm>
        </p:spPr>
        <p:txBody>
          <a:bodyPr>
            <a:normAutofit/>
          </a:bodyPr>
          <a:lstStyle/>
          <a:p>
            <a:r>
              <a:rPr lang="en-US" dirty="0"/>
              <a:t>Project Planning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0C9E3E-8DF4-DE1B-10AC-DB8AF854E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466983"/>
              </p:ext>
            </p:extLst>
          </p:nvPr>
        </p:nvGraphicFramePr>
        <p:xfrm>
          <a:off x="831974" y="1263932"/>
          <a:ext cx="10528052" cy="5330757"/>
        </p:xfrm>
        <a:graphic>
          <a:graphicData uri="http://schemas.openxmlformats.org/drawingml/2006/table">
            <a:tbl>
              <a:tblPr/>
              <a:tblGrid>
                <a:gridCol w="2101073">
                  <a:extLst>
                    <a:ext uri="{9D8B030D-6E8A-4147-A177-3AD203B41FA5}">
                      <a16:colId xmlns:a16="http://schemas.microsoft.com/office/drawing/2014/main" val="3398276197"/>
                    </a:ext>
                  </a:extLst>
                </a:gridCol>
                <a:gridCol w="1803396">
                  <a:extLst>
                    <a:ext uri="{9D8B030D-6E8A-4147-A177-3AD203B41FA5}">
                      <a16:colId xmlns:a16="http://schemas.microsoft.com/office/drawing/2014/main" val="643526566"/>
                    </a:ext>
                  </a:extLst>
                </a:gridCol>
                <a:gridCol w="2253005">
                  <a:extLst>
                    <a:ext uri="{9D8B030D-6E8A-4147-A177-3AD203B41FA5}">
                      <a16:colId xmlns:a16="http://schemas.microsoft.com/office/drawing/2014/main" val="4263643532"/>
                    </a:ext>
                  </a:extLst>
                </a:gridCol>
                <a:gridCol w="4370578">
                  <a:extLst>
                    <a:ext uri="{9D8B030D-6E8A-4147-A177-3AD203B41FA5}">
                      <a16:colId xmlns:a16="http://schemas.microsoft.com/office/drawing/2014/main" val="3662742710"/>
                    </a:ext>
                  </a:extLst>
                </a:gridCol>
              </a:tblGrid>
              <a:tr h="56397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Timeframe</a:t>
                      </a:r>
                      <a:endParaRPr lang="en-IN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Activities &amp; Deliverables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02323"/>
                  </a:ext>
                </a:extLst>
              </a:tr>
              <a:tr h="933696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0: Inception &amp; Discovery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July - Sept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Project Foundation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Ideation, Team Formation, Initial Research, Requirements Gathering (High-Level), Technology Vetting, and Project Charter Finalization.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Approved Project Charter &amp; Initial Roadmap.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40329032"/>
                  </a:ext>
                </a:extLst>
              </a:tr>
              <a:tr h="70982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1: Planning &amp; Setup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Mid-Sept - Oct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Technical Blueprint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Detailed Requirements &amp; Budget Planning, Tech Stack Finalization, and Architecture Design.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Technical Design Document &amp; Project Foundation Ready.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64174704"/>
                  </a:ext>
                </a:extLst>
              </a:tr>
              <a:tr h="70982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2: Core Interaction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Late Oct - Dec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Core Functionality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 Integration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(YOLOv11),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TTS/STT Integration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Real-time object capture Flow, Memory Storage, and Context Retrieval.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Functional Core system (MVP).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56773683"/>
                  </a:ext>
                </a:extLst>
              </a:tr>
              <a:tr h="70982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3: Detection and alerts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Dec - Jan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Personalization &amp; UX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Object identification,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Object detection and voice alerts Integration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Interactive, Assistive AI Object Detection and Adaptive alert prototype.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99040354"/>
                  </a:ext>
                </a:extLst>
              </a:tr>
              <a:tr h="1157568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4: Real-Time UX &amp; Deployment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Jan - Feb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Launch Readiness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Feature Prioritization (based on beta feedback), Continuous Integration/Continuous Deployment (CI/CD) scaling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Webcam object Detection 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and Final Testing &amp; Documentation.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Public Beta Ready &amp; Final Documentation.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41260263"/>
                  </a:ext>
                </a:extLst>
              </a:tr>
              <a:tr h="54605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5: Enhancements &amp; Go-Live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Mar - Apr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Scaling &amp; Handover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Formal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Production Go-Live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and Project Handover. </a:t>
                      </a: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Deliverable:</a:t>
                      </a:r>
                      <a:r>
                        <a:rPr lang="en-IN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Full Production System &amp; Project Closure.</a:t>
                      </a:r>
                    </a:p>
                  </a:txBody>
                  <a:tcPr marL="27310" marR="27310" marT="18206" marB="1820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2">
                            <a:lumMod val="0"/>
                            <a:lumOff val="100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7959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14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FF4C-C1B7-0166-B12A-0E5781E0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75" y="116167"/>
            <a:ext cx="2850606" cy="231121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Flow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FE30F-6F00-8219-283C-B80406BD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98" y="231727"/>
            <a:ext cx="8553636" cy="651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52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FD28A7-EEDF-6013-56C2-4FE44E6F3CC8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688529589"/>
              </p:ext>
            </p:extLst>
          </p:nvPr>
        </p:nvGraphicFramePr>
        <p:xfrm>
          <a:off x="1166087" y="735724"/>
          <a:ext cx="9780587" cy="5353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7373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337E-71CB-8940-8517-A1ABE11F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53" y="581228"/>
            <a:ext cx="9779183" cy="9740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9777-2A7A-599D-BF69-095D3CA9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190" y="1481733"/>
            <a:ext cx="10265879" cy="5476115"/>
          </a:xfrm>
        </p:spPr>
        <p:txBody>
          <a:bodyPr>
            <a:normAutofit fontScale="3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&amp; Classification – Real-time detection using YOLOv11.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Estimation – Using Ultrasonic sensors for measuring proximity.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Identification – Determines left, right, or center position of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Alert Generation – Adaptive speech output using </a:t>
            </a: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pyttsx3.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 Feature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Navigation: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location tracking and navigation assistance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Detection and voice latency &lt; 2 seconds.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System must be deployable and expandable for multiple users.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Target 99% uptime for continuous assistive operation.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: Simple and accessible voice-based feedback for end users.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 Modular code for easy updates and debugging.</a:t>
            </a:r>
          </a:p>
          <a:p>
            <a:pPr marL="800100" lvl="1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Lightweight and compatible with Raspberry Pi hardware.</a:t>
            </a: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0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E6B6EB-B296-8E0E-B223-E1F69FEB87BB}"/>
              </a:ext>
            </a:extLst>
          </p:cNvPr>
          <p:cNvSpPr txBox="1"/>
          <p:nvPr/>
        </p:nvSpPr>
        <p:spPr>
          <a:xfrm>
            <a:off x="1789585" y="3836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180FA-FF43-DC2A-EB6E-586E21246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585" y="1296913"/>
            <a:ext cx="9319735" cy="52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3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E94A-C3E0-AA5B-914D-38D12946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282" y="28736"/>
            <a:ext cx="5100974" cy="111689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Diagram :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9FED7-5182-AF12-9475-F721FA84F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577" y="1221828"/>
            <a:ext cx="8065376" cy="537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67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6F32-A354-C55C-4069-F86F45C9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616" y="512681"/>
            <a:ext cx="3349930" cy="1295337"/>
          </a:xfrm>
        </p:spPr>
        <p:txBody>
          <a:bodyPr/>
          <a:lstStyle/>
          <a:p>
            <a:r>
              <a:rPr lang="en-US" dirty="0"/>
              <a:t>Component</a:t>
            </a:r>
            <a:br>
              <a:rPr lang="en-US" dirty="0"/>
            </a:br>
            <a:r>
              <a:rPr lang="en-US" dirty="0"/>
              <a:t> Diagram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E3AC5-72EB-649E-E912-A773004B0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546" y="191813"/>
            <a:ext cx="4999640" cy="666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99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EFA8-7F0B-071B-67F4-88B32076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087" y="590075"/>
            <a:ext cx="2661878" cy="1744415"/>
          </a:xfrm>
        </p:spPr>
        <p:txBody>
          <a:bodyPr>
            <a:normAutofit/>
          </a:bodyPr>
          <a:lstStyle/>
          <a:p>
            <a:r>
              <a:rPr lang="en-US" dirty="0"/>
              <a:t>Composite </a:t>
            </a:r>
            <a:br>
              <a:rPr lang="en-US" dirty="0"/>
            </a:br>
            <a:r>
              <a:rPr lang="en-US" dirty="0"/>
              <a:t>Structure</a:t>
            </a:r>
            <a:br>
              <a:rPr lang="en-US" dirty="0"/>
            </a:br>
            <a:r>
              <a:rPr lang="en-US" dirty="0"/>
              <a:t> Diagram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C4852-DF05-7B19-B0A5-1F4BC2D2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301" y="267395"/>
            <a:ext cx="5815612" cy="632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38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23FE-27D4-0BB7-8DC9-A9BED96F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511" y="613063"/>
            <a:ext cx="4373489" cy="1051865"/>
          </a:xfrm>
        </p:spPr>
        <p:txBody>
          <a:bodyPr anchor="b"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 :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9967D-D5AF-A74D-3B6E-95CE75BB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735" y="1274378"/>
            <a:ext cx="8250903" cy="549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24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3F82-B35C-43D1-69CD-E1D79B8D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00" y="508864"/>
            <a:ext cx="2658273" cy="90919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D22D9-3F48-5B96-A81F-1347671A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419" y="296473"/>
            <a:ext cx="6300713" cy="626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91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C2CC-4B1F-3A78-0F2D-51C04598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7" y="248019"/>
            <a:ext cx="9362115" cy="15546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2A126-2CAD-DFFC-126D-487667E16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45" y="1025347"/>
            <a:ext cx="8443748" cy="562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7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632E-3354-26CA-855C-49409794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03" y="238991"/>
            <a:ext cx="6074228" cy="749373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DF637-A377-D1BB-7FA8-B69FCC02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493" y="1103586"/>
            <a:ext cx="7985235" cy="532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62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231E-2B1A-6F39-64E0-EE46F28E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079" y="218209"/>
            <a:ext cx="4674847" cy="649626"/>
          </a:xfrm>
        </p:spPr>
        <p:txBody>
          <a:bodyPr>
            <a:noAutofit/>
          </a:bodyPr>
          <a:lstStyle/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Representation Diagram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43AB8-74BC-517F-CF38-849E906F0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24" y="1311922"/>
            <a:ext cx="7991803" cy="53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082073-EA4C-AED2-B8B4-5B6F9F792630}"/>
              </a:ext>
            </a:extLst>
          </p:cNvPr>
          <p:cNvSpPr txBox="1"/>
          <p:nvPr/>
        </p:nvSpPr>
        <p:spPr>
          <a:xfrm>
            <a:off x="1866484" y="24920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Process Flow Diagram</a:t>
            </a:r>
            <a:endParaRPr lang="en-IN" sz="4000" dirty="0">
              <a:ln w="3175" cmpd="sng">
                <a:noFill/>
              </a:ln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897FD-AC9A-DF36-ABBB-5B5D1B4B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90" y="1280047"/>
            <a:ext cx="8445062" cy="545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0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230C-27A5-1FF9-234A-FBE9FBB0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79C11-4CBC-1D26-E89A-F676B33F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7" y="2027122"/>
            <a:ext cx="7641021" cy="382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8F88-7718-B259-7535-411022BB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78" y="436418"/>
            <a:ext cx="2894349" cy="90400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FB82C-E1C5-882B-5469-7A19CA88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86" y="1340427"/>
            <a:ext cx="7087914" cy="472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07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BF8D71-C6CE-AFDC-13E5-DD6691CDBC02}"/>
              </a:ext>
            </a:extLst>
          </p:cNvPr>
          <p:cNvSpPr txBox="1"/>
          <p:nvPr/>
        </p:nvSpPr>
        <p:spPr>
          <a:xfrm>
            <a:off x="4357396" y="532841"/>
            <a:ext cx="68424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Level 2</a:t>
            </a:r>
            <a:endParaRPr lang="en-IN" sz="4000" dirty="0">
              <a:ln w="3175" cmpd="sng">
                <a:noFill/>
              </a:ln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32B70-D260-EA33-90A2-D2BD25797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34" y="1450426"/>
            <a:ext cx="9464566" cy="473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1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70C6-8BA5-D330-37BA-00E843EF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406" y="40975"/>
            <a:ext cx="9779183" cy="71294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 Management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C3ED7-0AC8-0F02-B09A-914C7C394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5793" y="753917"/>
            <a:ext cx="10097714" cy="589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 Faced (Inferred):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speed optimization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voice command and audio feedback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camera input latency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under low-light or noisy conditions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signal accuracy and connectivity issues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Identified (Inferred):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failure or camera disconnection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loss or corrupted video feed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misclassification affecting user safety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or API downtime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signal loss or inaccurate location tracking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lightweight YOLOv11 model and GPU acceleration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error-handling and auto-reconnect logic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regular model retraining and validation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local backup and offline processing mode.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offline GPS caching and fallback navigation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136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3EAD-FF80-3B8D-30CE-6EBF833C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08" y="656777"/>
            <a:ext cx="9779183" cy="6062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(Phase II)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A8DEAD-F489-0DCF-3536-8CFB3627C8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8830" y="1489563"/>
            <a:ext cx="9866487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testing on a Raspberry Pi-like embedded device using an off-the-shelf camera module and GPS integration.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detecting a predefined set of common objects and obstacles, such as people, vehicles, furniture, and common environmental hazards.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real-time auditory feedback for objects detected within a specified distance range from the user, along with GPS-based navigation assistance.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testing in both controlled indoor environments and varying outdoor settings to validate adaptability, navigation support, and overall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25745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43F776-9B40-C384-8E7F-9FBF7FBFA6F7}"/>
              </a:ext>
            </a:extLst>
          </p:cNvPr>
          <p:cNvSpPr txBox="1"/>
          <p:nvPr/>
        </p:nvSpPr>
        <p:spPr>
          <a:xfrm>
            <a:off x="1807134" y="688812"/>
            <a:ext cx="4696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Outcomes:-</a:t>
            </a:r>
          </a:p>
        </p:txBody>
      </p:sp>
    </p:spTree>
    <p:extLst>
      <p:ext uri="{BB962C8B-B14F-4D97-AF65-F5344CB8AC3E}">
        <p14:creationId xmlns:p14="http://schemas.microsoft.com/office/powerpoint/2010/main" val="1833916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EA60A8-4058-55A5-1AFE-9268E9A78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048315"/>
              </p:ext>
            </p:extLst>
          </p:nvPr>
        </p:nvGraphicFramePr>
        <p:xfrm>
          <a:off x="1861850" y="1855124"/>
          <a:ext cx="8915400" cy="316992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74351551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60194008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00492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Eye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0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979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816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819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Estimation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2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7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39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Voice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94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9F5BCE-66C5-AAFC-9044-5F4765086404}"/>
              </a:ext>
            </a:extLst>
          </p:cNvPr>
          <p:cNvSpPr txBox="1"/>
          <p:nvPr/>
        </p:nvSpPr>
        <p:spPr>
          <a:xfrm>
            <a:off x="1769052" y="627539"/>
            <a:ext cx="8039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Systems</a:t>
            </a:r>
          </a:p>
        </p:txBody>
      </p:sp>
    </p:spTree>
    <p:extLst>
      <p:ext uri="{BB962C8B-B14F-4D97-AF65-F5344CB8AC3E}">
        <p14:creationId xmlns:p14="http://schemas.microsoft.com/office/powerpoint/2010/main" val="2918085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8AC58-AEB6-EA91-B3A2-B3F65303842B}"/>
              </a:ext>
            </a:extLst>
          </p:cNvPr>
          <p:cNvSpPr txBox="1"/>
          <p:nvPr/>
        </p:nvSpPr>
        <p:spPr>
          <a:xfrm>
            <a:off x="1696315" y="631020"/>
            <a:ext cx="8507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Hardware and Software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E977A-153D-6AF7-FE7D-0D1D139B9E68}"/>
              </a:ext>
            </a:extLst>
          </p:cNvPr>
          <p:cNvSpPr txBox="1"/>
          <p:nvPr/>
        </p:nvSpPr>
        <p:spPr>
          <a:xfrm>
            <a:off x="1758661" y="1722479"/>
            <a:ext cx="72814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 tested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tested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 tested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Speaker/Microphone tested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 detection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alert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calculation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21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7442A5-E308-5C8B-E728-6CBCD4A3E811}"/>
              </a:ext>
            </a:extLst>
          </p:cNvPr>
          <p:cNvSpPr txBox="1"/>
          <p:nvPr/>
        </p:nvSpPr>
        <p:spPr>
          <a:xfrm>
            <a:off x="1727488" y="672584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Publication</a:t>
            </a:r>
          </a:p>
        </p:txBody>
      </p:sp>
    </p:spTree>
    <p:extLst>
      <p:ext uri="{BB962C8B-B14F-4D97-AF65-F5344CB8AC3E}">
        <p14:creationId xmlns:p14="http://schemas.microsoft.com/office/powerpoint/2010/main" val="3508954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DD041-830E-A4E7-DB50-9430B1F2666C}"/>
              </a:ext>
            </a:extLst>
          </p:cNvPr>
          <p:cNvSpPr txBox="1"/>
          <p:nvPr/>
        </p:nvSpPr>
        <p:spPr>
          <a:xfrm>
            <a:off x="1737879" y="65180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Awards &amp; Participation</a:t>
            </a:r>
          </a:p>
        </p:txBody>
      </p:sp>
    </p:spTree>
    <p:extLst>
      <p:ext uri="{BB962C8B-B14F-4D97-AF65-F5344CB8AC3E}">
        <p14:creationId xmlns:p14="http://schemas.microsoft.com/office/powerpoint/2010/main" val="2980133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998" y="624110"/>
            <a:ext cx="8911687" cy="128089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256452"/>
            <a:ext cx="10018713" cy="3124201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object detection, GPS-based navigation, and voice alerts to assist visually impaired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YOLOv11, AI, Raspberry Pi, and GPS technology for smart assistance.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independence, safety, and accessibility through affordable technology.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social impact of AI and IoT in improving everyday mobility.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53A5-4603-D3B7-13C9-2084844F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871" y="624110"/>
            <a:ext cx="8911687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8D00B7-65D6-A5E1-40D3-80F9537EF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434118"/>
            <a:ext cx="994005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Wang et al., “YOLO-OD: Obstacle Detection for Visually Impaired Navigation,” Sensors, vol. 24, no. 23, 2024.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Litoriya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“Visual Assistant Using YOLO and SSD,” J. Autom. Mobile Robotics, vol. 17, no. 4, 2023.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Mallikarjun et al., “YOLOv8n-Based Lightweight Object Detection,”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Mathematica, vol. 122, 2025.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 et al., “PC-CS-YOLO: Obstacle Detection for Visually Impaired,” Sensors, vol. 25, no. 2, 2025.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S. Saranya et al., “IoT-ML Approach for Visually Impaired Assistance,” IJISAE, vol. 12, no. 6s, 2023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193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0A67-246F-C478-73DB-D5218B6F46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F5406-F732-9BA1-6FE0-F48359DE5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91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1428</TotalTime>
  <Words>2330</Words>
  <Application>Microsoft Office PowerPoint</Application>
  <PresentationFormat>Widescreen</PresentationFormat>
  <Paragraphs>341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Century Gothic</vt:lpstr>
      <vt:lpstr>Google Sans Text</vt:lpstr>
      <vt:lpstr>Times New Roman</vt:lpstr>
      <vt:lpstr>Wingdings 3</vt:lpstr>
      <vt:lpstr>Wisp</vt:lpstr>
      <vt:lpstr>Alert Eye – Object Detection System with Adaptive Voice Alerts </vt:lpstr>
      <vt:lpstr>CONTENTS</vt:lpstr>
      <vt:lpstr>Abstract :-</vt:lpstr>
      <vt:lpstr>Problem Statement</vt:lpstr>
      <vt:lpstr>Motivation</vt:lpstr>
      <vt:lpstr>Aim and Objective</vt:lpstr>
      <vt:lpstr>PowerPoint Presentation</vt:lpstr>
      <vt:lpstr>PowerPoint Presentation</vt:lpstr>
      <vt:lpstr>Existing System</vt:lpstr>
      <vt:lpstr>Gap Analysis and Challenges</vt:lpstr>
      <vt:lpstr>Proposed System</vt:lpstr>
      <vt:lpstr>Methodology</vt:lpstr>
      <vt:lpstr>Project Planning</vt:lpstr>
      <vt:lpstr>Project Flow :</vt:lpstr>
      <vt:lpstr>PowerPoint Presentation</vt:lpstr>
      <vt:lpstr>Requirement Analysis</vt:lpstr>
      <vt:lpstr>PowerPoint Presentation</vt:lpstr>
      <vt:lpstr>Structural Diagram :  Class Diagram</vt:lpstr>
      <vt:lpstr>Component  Diagram </vt:lpstr>
      <vt:lpstr>Composite  Structure  Diagram </vt:lpstr>
      <vt:lpstr>Behavioural Diagram : </vt:lpstr>
      <vt:lpstr>Activity  Diagram</vt:lpstr>
      <vt:lpstr>Sequence Diagram</vt:lpstr>
      <vt:lpstr>Communication Diagram</vt:lpstr>
      <vt:lpstr> Entity Representation Diagram</vt:lpstr>
      <vt:lpstr>PowerPoint Presentation</vt:lpstr>
      <vt:lpstr>Data Flow Diagram Level 0 :</vt:lpstr>
      <vt:lpstr>Level 1</vt:lpstr>
      <vt:lpstr>PowerPoint Presentation</vt:lpstr>
      <vt:lpstr>Challenges &amp; Risk Management </vt:lpstr>
      <vt:lpstr>Future Work (Phase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 </vt:lpstr>
      <vt:lpstr>QNA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PRATIBIMB – AI-Based Conversational Digital Twin</dc:title>
  <dc:subject/>
  <dc:creator>Sagar</dc:creator>
  <cp:keywords/>
  <dc:description>generated using python-pptx</dc:description>
  <cp:lastModifiedBy>PRATHAMESH .</cp:lastModifiedBy>
  <cp:revision>133</cp:revision>
  <cp:lastPrinted>2025-08-02T06:23:55Z</cp:lastPrinted>
  <dcterms:created xsi:type="dcterms:W3CDTF">2013-01-27T09:14:16Z</dcterms:created>
  <dcterms:modified xsi:type="dcterms:W3CDTF">2026-06-22T20:25:51Z</dcterms:modified>
  <cp:category/>
</cp:coreProperties>
</file>